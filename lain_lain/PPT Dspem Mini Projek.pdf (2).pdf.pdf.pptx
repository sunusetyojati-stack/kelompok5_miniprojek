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entury Gothic Paneuropean" charset="1" panose="020B0502020202020204"/>
      <p:regular r:id="rId21"/>
    </p:embeddedFont>
    <p:embeddedFont>
      <p:font typeface="IBM Plex Sans Condensed Bold" charset="1" panose="020B0806050203000203"/>
      <p:regular r:id="rId22"/>
    </p:embeddedFont>
    <p:embeddedFont>
      <p:font typeface="Century Gothic Paneuropean Bold" charset="1" panose="020B0702020202020204"/>
      <p:regular r:id="rId23"/>
    </p:embeddedFont>
    <p:embeddedFont>
      <p:font typeface="IBM Plex Sans Condensed" charset="1" panose="020B0506050203000203"/>
      <p:regular r:id="rId24"/>
    </p:embeddedFont>
    <p:embeddedFont>
      <p:font typeface="IBM Plex Sans" charset="1" panose="020B050305020300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png" Type="http://schemas.openxmlformats.org/officeDocument/2006/relationships/image"/><Relationship Id="rId4" Target="../media/image5.pn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8.png" Type="http://schemas.openxmlformats.org/officeDocument/2006/relationships/image"/><Relationship Id="rId4" Target="../media/image5.pn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18.png" Type="http://schemas.openxmlformats.org/officeDocument/2006/relationships/image"/><Relationship Id="rId5" Target="../media/image40.png" Type="http://schemas.openxmlformats.org/officeDocument/2006/relationships/image"/><Relationship Id="rId6" Target="../media/image2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sv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18.png" Type="http://schemas.openxmlformats.org/officeDocument/2006/relationships/image"/><Relationship Id="rId5" Target="../media/image40.png" Type="http://schemas.openxmlformats.org/officeDocument/2006/relationships/image"/><Relationship Id="rId6" Target="../media/image20.pn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sv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18.png" Type="http://schemas.openxmlformats.org/officeDocument/2006/relationships/image"/><Relationship Id="rId5" Target="../media/image40.png" Type="http://schemas.openxmlformats.org/officeDocument/2006/relationships/image"/><Relationship Id="rId6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8411825" cy="10410825"/>
          </a:xfrm>
          <a:custGeom>
            <a:avLst/>
            <a:gdLst/>
            <a:ahLst/>
            <a:cxnLst/>
            <a:rect r="r" b="b" t="t" l="l"/>
            <a:pathLst>
              <a:path h="10410825" w="18411825">
                <a:moveTo>
                  <a:pt x="0" y="0"/>
                </a:moveTo>
                <a:lnTo>
                  <a:pt x="18411825" y="0"/>
                </a:lnTo>
                <a:lnTo>
                  <a:pt x="18411825" y="10410825"/>
                </a:lnTo>
                <a:lnTo>
                  <a:pt x="0" y="1041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6414" y="1934556"/>
            <a:ext cx="3197657" cy="91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7"/>
              </a:lnSpc>
            </a:pPr>
            <a:r>
              <a:rPr lang="en-US" sz="511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Presentasi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04948" y="4032542"/>
            <a:ext cx="10857090" cy="24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b="true" sz="804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MINI PROJEK ANALISIS  CURAH HUJAN</a:t>
            </a:r>
          </a:p>
          <a:p>
            <a:pPr algn="ctr">
              <a:lnSpc>
                <a:spcPts val="7612"/>
              </a:lnSpc>
            </a:pPr>
            <a:r>
              <a:rPr lang="en-US" b="true" sz="4558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KELOMPOK 5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-2710" r="-13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108697"/>
            <a:ext cx="18288000" cy="4178303"/>
          </a:xfrm>
          <a:custGeom>
            <a:avLst/>
            <a:gdLst/>
            <a:ahLst/>
            <a:cxnLst/>
            <a:rect r="r" b="b" t="t" l="l"/>
            <a:pathLst>
              <a:path h="4178303" w="18288000">
                <a:moveTo>
                  <a:pt x="0" y="0"/>
                </a:moveTo>
                <a:lnTo>
                  <a:pt x="18288000" y="0"/>
                </a:lnTo>
                <a:lnTo>
                  <a:pt x="18288000" y="4178303"/>
                </a:lnTo>
                <a:lnTo>
                  <a:pt x="0" y="4178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14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0" r="-2845" b="-1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9707" y="4923659"/>
            <a:ext cx="439681" cy="439681"/>
          </a:xfrm>
          <a:custGeom>
            <a:avLst/>
            <a:gdLst/>
            <a:ahLst/>
            <a:cxnLst/>
            <a:rect r="r" b="b" t="t" l="l"/>
            <a:pathLst>
              <a:path h="439681" w="439681">
                <a:moveTo>
                  <a:pt x="0" y="0"/>
                </a:moveTo>
                <a:lnTo>
                  <a:pt x="439681" y="0"/>
                </a:lnTo>
                <a:lnTo>
                  <a:pt x="439681" y="439682"/>
                </a:lnTo>
                <a:lnTo>
                  <a:pt x="0" y="439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79119" y="5753866"/>
            <a:ext cx="520857" cy="526602"/>
          </a:xfrm>
          <a:custGeom>
            <a:avLst/>
            <a:gdLst/>
            <a:ahLst/>
            <a:cxnLst/>
            <a:rect r="r" b="b" t="t" l="l"/>
            <a:pathLst>
              <a:path h="526602" w="520857">
                <a:moveTo>
                  <a:pt x="0" y="0"/>
                </a:moveTo>
                <a:lnTo>
                  <a:pt x="520857" y="0"/>
                </a:lnTo>
                <a:lnTo>
                  <a:pt x="520857" y="526602"/>
                </a:lnTo>
                <a:lnTo>
                  <a:pt x="0" y="5266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47399" y="6632501"/>
            <a:ext cx="552429" cy="493169"/>
          </a:xfrm>
          <a:custGeom>
            <a:avLst/>
            <a:gdLst/>
            <a:ahLst/>
            <a:cxnLst/>
            <a:rect r="r" b="b" t="t" l="l"/>
            <a:pathLst>
              <a:path h="493169" w="552429">
                <a:moveTo>
                  <a:pt x="0" y="0"/>
                </a:moveTo>
                <a:lnTo>
                  <a:pt x="552429" y="0"/>
                </a:lnTo>
                <a:lnTo>
                  <a:pt x="552429" y="493169"/>
                </a:lnTo>
                <a:lnTo>
                  <a:pt x="0" y="493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06959" y="7554686"/>
            <a:ext cx="633309" cy="271747"/>
          </a:xfrm>
          <a:custGeom>
            <a:avLst/>
            <a:gdLst/>
            <a:ahLst/>
            <a:cxnLst/>
            <a:rect r="r" b="b" t="t" l="l"/>
            <a:pathLst>
              <a:path h="271747" w="633309">
                <a:moveTo>
                  <a:pt x="0" y="0"/>
                </a:moveTo>
                <a:lnTo>
                  <a:pt x="633309" y="0"/>
                </a:lnTo>
                <a:lnTo>
                  <a:pt x="633309" y="271747"/>
                </a:lnTo>
                <a:lnTo>
                  <a:pt x="0" y="2717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79802" y="1268577"/>
            <a:ext cx="9728187" cy="84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b="true" sz="9552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LATAR BELAKANG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7209" y="2651731"/>
            <a:ext cx="109928" cy="85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6"/>
              </a:lnSpc>
            </a:pPr>
            <a:r>
              <a:rPr lang="en-US" b="true" sz="303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6959" y="2292809"/>
            <a:ext cx="13237682" cy="18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7"/>
              </a:lnSpc>
            </a:pPr>
            <a:r>
              <a:rPr lang="en-US" b="true" sz="273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Curah hujan </a:t>
            </a:r>
            <a:r>
              <a:rPr lang="en-US" b="true" sz="273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merupakan variabel klimatologi utama yang sangat mempengaruhi dinamika lingkungan, seperti ketersediaan air, pertanian, sistem hidrologi, hingga potensi bencana hidrometeorologi. Analisis berbasis data historis diperlukan untuk: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39928" y="4899530"/>
            <a:ext cx="6882854" cy="46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sz="273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Mengidentifikasi pola temporal dan spasial hujan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928" y="5706241"/>
            <a:ext cx="5616625" cy="46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sz="273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Menentukan anomali, tren, dan ekstrem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23784" y="6623368"/>
            <a:ext cx="12131278" cy="46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  <a:spcBef>
                <a:spcPct val="0"/>
              </a:spcBef>
            </a:pPr>
            <a:r>
              <a:rPr lang="en-US" sz="273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Mendukung pengambilan keputusan berbasis bukti (Evidence-Based Decision Making)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39928" y="7434842"/>
            <a:ext cx="9603432" cy="46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sz="273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Optimasi perencanaan mitigasi bencana (banjir, longsor, kekeringan)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0" r="-13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612112"/>
            <a:ext cx="18288000" cy="3674888"/>
          </a:xfrm>
          <a:custGeom>
            <a:avLst/>
            <a:gdLst/>
            <a:ahLst/>
            <a:cxnLst/>
            <a:rect r="r" b="b" t="t" l="l"/>
            <a:pathLst>
              <a:path h="3674888" w="18288000">
                <a:moveTo>
                  <a:pt x="0" y="0"/>
                </a:moveTo>
                <a:lnTo>
                  <a:pt x="18288000" y="0"/>
                </a:lnTo>
                <a:lnTo>
                  <a:pt x="18288000" y="3674888"/>
                </a:lnTo>
                <a:lnTo>
                  <a:pt x="0" y="3674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186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84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22822" y="3399005"/>
            <a:ext cx="12021819" cy="425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9223" indent="-379611" lvl="1">
              <a:lnSpc>
                <a:spcPts val="4873"/>
              </a:lnSpc>
              <a:buFont typeface="Arial"/>
              <a:buChar char="•"/>
            </a:pPr>
            <a:r>
              <a:rPr lang="en-US" b="true" sz="3516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Klasifikasi curah hujan tahunan</a:t>
            </a:r>
          </a:p>
          <a:p>
            <a:pPr algn="l" marL="759223" indent="-379611" lvl="1">
              <a:lnSpc>
                <a:spcPts val="4873"/>
              </a:lnSpc>
              <a:buFont typeface="Arial"/>
              <a:buChar char="•"/>
            </a:pPr>
            <a:r>
              <a:rPr lang="en-US" b="true" sz="3516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Hitung rata-rata tahunan per stasiun</a:t>
            </a:r>
          </a:p>
          <a:p>
            <a:pPr algn="l" marL="759223" indent="-379611" lvl="1">
              <a:lnSpc>
                <a:spcPts val="4873"/>
              </a:lnSpc>
              <a:buFont typeface="Arial"/>
              <a:buChar char="•"/>
            </a:pPr>
            <a:r>
              <a:rPr lang="en-US" sz="351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3516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Identifikasi bulan curah hujan tertinggi</a:t>
            </a:r>
          </a:p>
          <a:p>
            <a:pPr algn="l" marL="759223" indent="-379611" lvl="1">
              <a:lnSpc>
                <a:spcPts val="4873"/>
              </a:lnSpc>
              <a:buFont typeface="Arial"/>
              <a:buChar char="•"/>
            </a:pPr>
            <a:r>
              <a:rPr lang="en-US" b="true" sz="3516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Hitung persentase curah hujan per stasiun</a:t>
            </a:r>
          </a:p>
          <a:p>
            <a:pPr algn="l" marL="759223" indent="-379611" lvl="1">
              <a:lnSpc>
                <a:spcPts val="4873"/>
              </a:lnSpc>
              <a:buFont typeface="Arial"/>
              <a:buChar char="•"/>
            </a:pPr>
            <a:r>
              <a:rPr lang="en-US" sz="351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3516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Klasifikasi musim berdasarkan curah hujan bulanan</a:t>
            </a:r>
          </a:p>
          <a:p>
            <a:pPr algn="l">
              <a:lnSpc>
                <a:spcPts val="487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17876" y="823770"/>
            <a:ext cx="9645282" cy="16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3"/>
              </a:lnSpc>
            </a:pPr>
            <a:r>
              <a:rPr lang="en-US" b="true" sz="9552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TUJUAN PROJECT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07177" y="2728465"/>
            <a:ext cx="714375" cy="1790700"/>
          </a:xfrm>
          <a:custGeom>
            <a:avLst/>
            <a:gdLst/>
            <a:ahLst/>
            <a:cxnLst/>
            <a:rect r="r" b="b" t="t" l="l"/>
            <a:pathLst>
              <a:path h="1790700" w="714375">
                <a:moveTo>
                  <a:pt x="0" y="0"/>
                </a:moveTo>
                <a:lnTo>
                  <a:pt x="714375" y="0"/>
                </a:lnTo>
                <a:lnTo>
                  <a:pt x="714375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343150" cy="1943100"/>
          </a:xfrm>
          <a:custGeom>
            <a:avLst/>
            <a:gdLst/>
            <a:ahLst/>
            <a:cxnLst/>
            <a:rect r="r" b="b" t="t" l="l"/>
            <a:pathLst>
              <a:path h="1943100" w="2343150">
                <a:moveTo>
                  <a:pt x="0" y="0"/>
                </a:moveTo>
                <a:lnTo>
                  <a:pt x="2343150" y="0"/>
                </a:lnTo>
                <a:lnTo>
                  <a:pt x="23431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-3425" r="-135" b="-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826" y="6699473"/>
            <a:ext cx="18288000" cy="4181475"/>
          </a:xfrm>
          <a:custGeom>
            <a:avLst/>
            <a:gdLst/>
            <a:ahLst/>
            <a:cxnLst/>
            <a:rect r="r" b="b" t="t" l="l"/>
            <a:pathLst>
              <a:path h="4181475" w="18288000">
                <a:moveTo>
                  <a:pt x="0" y="0"/>
                </a:moveTo>
                <a:lnTo>
                  <a:pt x="18288000" y="0"/>
                </a:lnTo>
                <a:lnTo>
                  <a:pt x="18288000" y="4181475"/>
                </a:lnTo>
                <a:lnTo>
                  <a:pt x="0" y="418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136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85105" y="0"/>
            <a:ext cx="1902895" cy="1895475"/>
          </a:xfrm>
          <a:custGeom>
            <a:avLst/>
            <a:gdLst/>
            <a:ahLst/>
            <a:cxnLst/>
            <a:rect r="r" b="b" t="t" l="l"/>
            <a:pathLst>
              <a:path h="1895475" w="1902895">
                <a:moveTo>
                  <a:pt x="0" y="0"/>
                </a:moveTo>
                <a:lnTo>
                  <a:pt x="1902895" y="0"/>
                </a:lnTo>
                <a:lnTo>
                  <a:pt x="1902895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50" r="-3113" b="-16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575" y="3184330"/>
            <a:ext cx="514291" cy="439485"/>
          </a:xfrm>
          <a:custGeom>
            <a:avLst/>
            <a:gdLst/>
            <a:ahLst/>
            <a:cxnLst/>
            <a:rect r="r" b="b" t="t" l="l"/>
            <a:pathLst>
              <a:path h="439485" w="514291">
                <a:moveTo>
                  <a:pt x="0" y="0"/>
                </a:moveTo>
                <a:lnTo>
                  <a:pt x="514291" y="0"/>
                </a:lnTo>
                <a:lnTo>
                  <a:pt x="514291" y="439485"/>
                </a:lnTo>
                <a:lnTo>
                  <a:pt x="0" y="439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1874" y="5361990"/>
            <a:ext cx="607943" cy="375819"/>
          </a:xfrm>
          <a:custGeom>
            <a:avLst/>
            <a:gdLst/>
            <a:ahLst/>
            <a:cxnLst/>
            <a:rect r="r" b="b" t="t" l="l"/>
            <a:pathLst>
              <a:path h="375819" w="607943">
                <a:moveTo>
                  <a:pt x="0" y="0"/>
                </a:moveTo>
                <a:lnTo>
                  <a:pt x="607943" y="0"/>
                </a:lnTo>
                <a:lnTo>
                  <a:pt x="607943" y="375820"/>
                </a:lnTo>
                <a:lnTo>
                  <a:pt x="0" y="375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7195071"/>
            <a:ext cx="514291" cy="439485"/>
          </a:xfrm>
          <a:custGeom>
            <a:avLst/>
            <a:gdLst/>
            <a:ahLst/>
            <a:cxnLst/>
            <a:rect r="r" b="b" t="t" l="l"/>
            <a:pathLst>
              <a:path h="439485" w="514291">
                <a:moveTo>
                  <a:pt x="0" y="0"/>
                </a:moveTo>
                <a:lnTo>
                  <a:pt x="514291" y="0"/>
                </a:lnTo>
                <a:lnTo>
                  <a:pt x="514291" y="439485"/>
                </a:lnTo>
                <a:lnTo>
                  <a:pt x="0" y="439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12245" y="392472"/>
            <a:ext cx="11049695" cy="166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3"/>
              </a:lnSpc>
            </a:pPr>
            <a:r>
              <a:rPr lang="en-US" b="true" sz="9552">
                <a:solidFill>
                  <a:srgbClr val="233173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RUMUSAN MASALAH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0670" y="2926388"/>
            <a:ext cx="731333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1. Distribusi Tahunan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Bagaimana distribusi curah hujan tahunan di setiap stasiun pengamatan?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3763" y="5095875"/>
            <a:ext cx="731333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 Puncak Hujan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Pada bulan apa puncak curah hujan terjadi tiap tahun?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5866" y="6942729"/>
            <a:ext cx="74581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 Klasifikasi Intensitas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Bagaimana klasifikasi tingkat curah hujan berdasarkan kategori intensitas?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3247996"/>
            <a:ext cx="607943" cy="375819"/>
          </a:xfrm>
          <a:custGeom>
            <a:avLst/>
            <a:gdLst/>
            <a:ahLst/>
            <a:cxnLst/>
            <a:rect r="r" b="b" t="t" l="l"/>
            <a:pathLst>
              <a:path h="375819" w="607943">
                <a:moveTo>
                  <a:pt x="0" y="0"/>
                </a:moveTo>
                <a:lnTo>
                  <a:pt x="607943" y="0"/>
                </a:lnTo>
                <a:lnTo>
                  <a:pt x="607943" y="375819"/>
                </a:lnTo>
                <a:lnTo>
                  <a:pt x="0" y="375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94818" y="2694413"/>
            <a:ext cx="64902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4. Komparasi Stasiun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Bagaimana perbandingan rata-rata curah hujan antar stasiun selama 2020–2024?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0826" y="5516815"/>
            <a:ext cx="514291" cy="439485"/>
          </a:xfrm>
          <a:custGeom>
            <a:avLst/>
            <a:gdLst/>
            <a:ahLst/>
            <a:cxnLst/>
            <a:rect r="r" b="b" t="t" l="l"/>
            <a:pathLst>
              <a:path h="439485" w="514291">
                <a:moveTo>
                  <a:pt x="0" y="0"/>
                </a:moveTo>
                <a:lnTo>
                  <a:pt x="514291" y="0"/>
                </a:lnTo>
                <a:lnTo>
                  <a:pt x="514291" y="439485"/>
                </a:lnTo>
                <a:lnTo>
                  <a:pt x="0" y="439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94818" y="5138290"/>
            <a:ext cx="64902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5. Kontribusi Total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Stasiun mana yang memberikan kontribusi terbesar terhadap total hujan?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90826" y="7414813"/>
            <a:ext cx="607943" cy="375819"/>
          </a:xfrm>
          <a:custGeom>
            <a:avLst/>
            <a:gdLst/>
            <a:ahLst/>
            <a:cxnLst/>
            <a:rect r="r" b="b" t="t" l="l"/>
            <a:pathLst>
              <a:path h="375819" w="607943">
                <a:moveTo>
                  <a:pt x="0" y="0"/>
                </a:moveTo>
                <a:lnTo>
                  <a:pt x="607943" y="0"/>
                </a:lnTo>
                <a:lnTo>
                  <a:pt x="607943" y="375820"/>
                </a:lnTo>
                <a:lnTo>
                  <a:pt x="0" y="375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894818" y="7135951"/>
            <a:ext cx="64902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 Pola Musim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317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Bagaimana pola musim kemarau vs hujan berdasarkan rata-rata bulanan?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-2710" r="-13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0" y="7475142"/>
            <a:ext cx="18288000" cy="2880008"/>
          </a:xfrm>
          <a:custGeom>
            <a:avLst/>
            <a:gdLst/>
            <a:ahLst/>
            <a:cxnLst/>
            <a:rect r="r" b="b" t="t" l="l"/>
            <a:pathLst>
              <a:path h="2880008" w="18288000">
                <a:moveTo>
                  <a:pt x="0" y="0"/>
                </a:moveTo>
                <a:lnTo>
                  <a:pt x="18288000" y="0"/>
                </a:lnTo>
                <a:lnTo>
                  <a:pt x="18288000" y="2880007"/>
                </a:lnTo>
                <a:lnTo>
                  <a:pt x="0" y="2880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309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0" r="-2845" b="-1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3989" y="3374751"/>
            <a:ext cx="12404293" cy="438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943" indent="-254472" lvl="1">
              <a:lnSpc>
                <a:spcPts val="3196"/>
              </a:lnSpc>
              <a:buFont typeface="Arial"/>
              <a:buChar char="•"/>
            </a:pPr>
            <a:r>
              <a:rPr lang="en-US" b="true" sz="2357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Pemuatan Data Membaca data mentah dari file Excel dengan semua informasi stasiun, bulan, dan curah hujan</a:t>
            </a:r>
          </a:p>
          <a:p>
            <a:pPr algn="l">
              <a:lnSpc>
                <a:spcPts val="3196"/>
              </a:lnSpc>
            </a:pPr>
          </a:p>
          <a:p>
            <a:pPr algn="l" marL="508943" indent="-254472" lvl="1">
              <a:lnSpc>
                <a:spcPts val="3196"/>
              </a:lnSpc>
              <a:buFont typeface="Arial"/>
              <a:buChar char="•"/>
            </a:pPr>
            <a:r>
              <a:rPr lang="en-US" b="true" sz="2357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Pembersihan Data 2 Mengubah tipe data ke numerik dan menghapus baris dengan nilai curah hujan yang hilang (NaN)</a:t>
            </a:r>
          </a:p>
          <a:p>
            <a:pPr algn="l">
              <a:lnSpc>
                <a:spcPts val="3196"/>
              </a:lnSpc>
            </a:pPr>
          </a:p>
          <a:p>
            <a:pPr algn="l" marL="508943" indent="-254472" lvl="1">
              <a:lnSpc>
                <a:spcPts val="3196"/>
              </a:lnSpc>
              <a:buFont typeface="Arial"/>
              <a:buChar char="•"/>
            </a:pPr>
            <a:r>
              <a:rPr lang="en-US" b="true" sz="2357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Pemfilteran Memastikan hanya data dalam rentang tahun 2020-2024 yang digunakan untuk analisis tahunan dan bulanan </a:t>
            </a:r>
          </a:p>
          <a:p>
            <a:pPr algn="l">
              <a:lnSpc>
                <a:spcPts val="3196"/>
              </a:lnSpc>
            </a:pPr>
          </a:p>
          <a:p>
            <a:pPr algn="just" marL="508943" indent="-254472" lvl="1">
              <a:lnSpc>
                <a:spcPts val="3196"/>
              </a:lnSpc>
              <a:buFont typeface="Arial"/>
              <a:buChar char="•"/>
            </a:pPr>
            <a:r>
              <a:rPr lang="en-US" b="true" sz="2357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Penghitungan Agregat Menghitung total curah hujan tahunan dan rata-rata curah hujan bulanan per stasiun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2565" y="294068"/>
            <a:ext cx="12842452" cy="275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8"/>
              </a:lnSpc>
            </a:pPr>
            <a:r>
              <a:rPr lang="en-US" b="true" sz="789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LANGKAH PROSES ANALISIS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75" y="-27782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0" t="-2710" r="-135" b="-1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68992"/>
            <a:ext cx="18288000" cy="2880008"/>
          </a:xfrm>
          <a:custGeom>
            <a:avLst/>
            <a:gdLst/>
            <a:ahLst/>
            <a:cxnLst/>
            <a:rect r="r" b="b" t="t" l="l"/>
            <a:pathLst>
              <a:path h="2880008" w="18288000">
                <a:moveTo>
                  <a:pt x="0" y="0"/>
                </a:moveTo>
                <a:lnTo>
                  <a:pt x="18288000" y="0"/>
                </a:lnTo>
                <a:lnTo>
                  <a:pt x="18288000" y="2880008"/>
                </a:lnTo>
                <a:lnTo>
                  <a:pt x="0" y="288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" t="0" r="-329" b="-3096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4850" y="-27782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10" r="-284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3249" y="2505220"/>
            <a:ext cx="10733176" cy="5473920"/>
          </a:xfrm>
          <a:custGeom>
            <a:avLst/>
            <a:gdLst/>
            <a:ahLst/>
            <a:cxnLst/>
            <a:rect r="r" b="b" t="t" l="l"/>
            <a:pathLst>
              <a:path h="5473920" w="10733176">
                <a:moveTo>
                  <a:pt x="0" y="0"/>
                </a:moveTo>
                <a:lnTo>
                  <a:pt x="10733176" y="0"/>
                </a:lnTo>
                <a:lnTo>
                  <a:pt x="10733176" y="5473920"/>
                </a:lnTo>
                <a:lnTo>
                  <a:pt x="0" y="5473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27216" y="334125"/>
            <a:ext cx="12833568" cy="12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1"/>
              </a:lnSpc>
            </a:pPr>
            <a:r>
              <a:rPr lang="en-US" b="true" sz="725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Klasifikasi Curah Hujan Tahunan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66498"/>
            <a:ext cx="4739808" cy="512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497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TINGGI&gt; 700 mm/tahun Daerah dengan curah hujan sangat tinggi, berpotensi banjir.</a:t>
            </a:r>
          </a:p>
          <a:p>
            <a:pPr algn="l">
              <a:lnSpc>
                <a:spcPts val="3387"/>
              </a:lnSpc>
            </a:pPr>
          </a:p>
          <a:p>
            <a:pPr algn="l">
              <a:lnSpc>
                <a:spcPts val="3387"/>
              </a:lnSpc>
            </a:pPr>
            <a:r>
              <a:rPr lang="en-US" sz="2497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SEDANG 500 - 700 mm/tahun Daerah dengan curah hujan normal, kondisi seimbang.</a:t>
            </a:r>
          </a:p>
          <a:p>
            <a:pPr algn="l">
              <a:lnSpc>
                <a:spcPts val="3387"/>
              </a:lnSpc>
            </a:pPr>
          </a:p>
          <a:p>
            <a:pPr algn="l">
              <a:lnSpc>
                <a:spcPts val="3387"/>
              </a:lnSpc>
            </a:pPr>
            <a:r>
              <a:rPr lang="en-US" b="true" sz="2497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RENDAH &lt; 500 mm/tahun Daerah dengan curah hujan rendah, potensi kekeringan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2875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0" t="-2710" r="-135" b="-1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65683"/>
            <a:ext cx="18288000" cy="2880008"/>
          </a:xfrm>
          <a:custGeom>
            <a:avLst/>
            <a:gdLst/>
            <a:ahLst/>
            <a:cxnLst/>
            <a:rect r="r" b="b" t="t" l="l"/>
            <a:pathLst>
              <a:path h="2880008" w="18288000">
                <a:moveTo>
                  <a:pt x="0" y="0"/>
                </a:moveTo>
                <a:lnTo>
                  <a:pt x="18288000" y="0"/>
                </a:lnTo>
                <a:lnTo>
                  <a:pt x="18288000" y="2880007"/>
                </a:lnTo>
                <a:lnTo>
                  <a:pt x="0" y="288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" t="0" r="-329" b="-3096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485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10" r="-284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62395" y="2464655"/>
            <a:ext cx="10454030" cy="5357690"/>
          </a:xfrm>
          <a:custGeom>
            <a:avLst/>
            <a:gdLst/>
            <a:ahLst/>
            <a:cxnLst/>
            <a:rect r="r" b="b" t="t" l="l"/>
            <a:pathLst>
              <a:path h="5357690" w="10454030">
                <a:moveTo>
                  <a:pt x="0" y="0"/>
                </a:moveTo>
                <a:lnTo>
                  <a:pt x="10454030" y="0"/>
                </a:lnTo>
                <a:lnTo>
                  <a:pt x="10454030" y="5357690"/>
                </a:lnTo>
                <a:lnTo>
                  <a:pt x="0" y="5357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18398" y="334125"/>
            <a:ext cx="12450994" cy="12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1"/>
              </a:lnSpc>
            </a:pPr>
            <a:r>
              <a:rPr lang="en-US" b="true" sz="725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Rata-rata Curah Hujan Tahunan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0275" y="2146042"/>
            <a:ext cx="4319245" cy="64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1989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Perhitungan Rata-rata Rata-rata total curah hujan tahunan dihitung untuk setiap stasiun selama periode 2020-2024 </a:t>
            </a:r>
          </a:p>
          <a:p>
            <a:pPr algn="l">
              <a:lnSpc>
                <a:spcPts val="2697"/>
              </a:lnSpc>
            </a:pPr>
          </a:p>
          <a:p>
            <a:pPr algn="l">
              <a:lnSpc>
                <a:spcPts val="2697"/>
              </a:lnSpc>
            </a:pPr>
            <a:r>
              <a:rPr lang="en-US" sz="1989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Gambaran Umum Memberikan informasi tentang stasiun mana yang secara konsisten menerima curah hujan lebih tinggi atau lebih rendah </a:t>
            </a:r>
          </a:p>
          <a:p>
            <a:pPr algn="l">
              <a:lnSpc>
                <a:spcPts val="2697"/>
              </a:lnSpc>
            </a:pPr>
          </a:p>
          <a:p>
            <a:pPr algn="l">
              <a:lnSpc>
                <a:spcPts val="2697"/>
              </a:lnSpc>
            </a:pPr>
            <a:r>
              <a:rPr lang="en-US" sz="1989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Pola Distribusi Menunjukkan variasi geografis dalam pola curah hujan antar stasiun pengamatan </a:t>
            </a:r>
          </a:p>
          <a:p>
            <a:pPr algn="l">
              <a:lnSpc>
                <a:spcPts val="2697"/>
              </a:lnSpc>
            </a:pPr>
          </a:p>
          <a:p>
            <a:pPr algn="l">
              <a:lnSpc>
                <a:spcPts val="2697"/>
              </a:lnSpc>
            </a:pPr>
            <a:r>
              <a:rPr lang="en-US" b="true" sz="198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Identifikasi Tren Membantu mengidentifikasi stasiun dengan curah hujan stabil, meningkat, atau menuru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0" t="-2710" r="-135" b="-1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4464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10" r="-2845" b="-13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36783" y="3232480"/>
            <a:ext cx="10844760" cy="5405490"/>
          </a:xfrm>
          <a:custGeom>
            <a:avLst/>
            <a:gdLst/>
            <a:ahLst/>
            <a:cxnLst/>
            <a:rect r="r" b="b" t="t" l="l"/>
            <a:pathLst>
              <a:path h="5405490" w="10844760">
                <a:moveTo>
                  <a:pt x="0" y="0"/>
                </a:moveTo>
                <a:lnTo>
                  <a:pt x="10844760" y="0"/>
                </a:lnTo>
                <a:lnTo>
                  <a:pt x="10844760" y="5405489"/>
                </a:lnTo>
                <a:lnTo>
                  <a:pt x="0" y="540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667" r="0" b="-366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43255" y="381635"/>
            <a:ext cx="13601490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b="true" sz="680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Curah Hujan Tertinggi yang Tercatat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377" y="2574049"/>
            <a:ext cx="6450998" cy="669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44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Periode Data Ekstensif </a:t>
            </a:r>
          </a:p>
          <a:p>
            <a:pPr algn="l">
              <a:lnSpc>
                <a:spcPts val="3315"/>
              </a:lnSpc>
            </a:pPr>
            <a:r>
              <a:rPr lang="en-US" sz="244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Analsis menggunakan data periode lebih luas (2015-2024) untuk menemukan nilai ekstrem bulanan yang pernah tercatat di setiap stasiun.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44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Identifikasi Niiai Ekstrem</a:t>
            </a:r>
          </a:p>
          <a:p>
            <a:pPr algn="l">
              <a:lnSpc>
                <a:spcPts val="3315"/>
              </a:lnSpc>
            </a:pPr>
            <a:r>
              <a:rPr lang="en-US" sz="244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Menemukan curah hujan maksimum per stasiun beserta informasi tahun dan bulan terjadinya peristiwa ekstrem tersebut.</a:t>
            </a:r>
          </a:p>
          <a:p>
            <a:pPr algn="l">
              <a:lnSpc>
                <a:spcPts val="3315"/>
              </a:lnSpc>
            </a:pPr>
          </a:p>
          <a:p>
            <a:pPr algn="l">
              <a:lnSpc>
                <a:spcPts val="3315"/>
              </a:lnSpc>
            </a:pPr>
            <a:r>
              <a:rPr lang="en-US" sz="244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Implikasi Praktis</a:t>
            </a:r>
          </a:p>
          <a:p>
            <a:pPr algn="l">
              <a:lnSpc>
                <a:spcPts val="3315"/>
              </a:lnSpc>
            </a:pPr>
            <a:r>
              <a:rPr lang="en-US" b="true" sz="244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curah hujan ekstrem sangat penting untuk mitigasi bencana banjir dan perencanaan infrastruktur yang tahan lama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-2710" r="-13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406992"/>
            <a:ext cx="18288000" cy="2880008"/>
          </a:xfrm>
          <a:custGeom>
            <a:avLst/>
            <a:gdLst/>
            <a:ahLst/>
            <a:cxnLst/>
            <a:rect r="r" b="b" t="t" l="l"/>
            <a:pathLst>
              <a:path h="2880008" w="18288000">
                <a:moveTo>
                  <a:pt x="0" y="0"/>
                </a:moveTo>
                <a:lnTo>
                  <a:pt x="18288000" y="0"/>
                </a:lnTo>
                <a:lnTo>
                  <a:pt x="18288000" y="2880008"/>
                </a:lnTo>
                <a:lnTo>
                  <a:pt x="0" y="2880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309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0" r="-2845" b="-1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8651" y="3237834"/>
            <a:ext cx="8235990" cy="4684831"/>
          </a:xfrm>
          <a:custGeom>
            <a:avLst/>
            <a:gdLst/>
            <a:ahLst/>
            <a:cxnLst/>
            <a:rect r="r" b="b" t="t" l="l"/>
            <a:pathLst>
              <a:path h="4684831" w="8235990">
                <a:moveTo>
                  <a:pt x="0" y="0"/>
                </a:moveTo>
                <a:lnTo>
                  <a:pt x="8235989" y="0"/>
                </a:lnTo>
                <a:lnTo>
                  <a:pt x="8235989" y="4684831"/>
                </a:lnTo>
                <a:lnTo>
                  <a:pt x="0" y="4684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99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43150" y="-75565"/>
            <a:ext cx="13601490" cy="236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b="true" sz="680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Distribusi Total Curah Hujan Antar Stasiun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3150" y="2573025"/>
            <a:ext cx="5365396" cy="650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Perhitungan Kumulatif</a:t>
            </a:r>
          </a:p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Total curah hujan kumulatif dihitung untuk setiap stasiun selama periode 2015-2024, memberikan gambaran lengkap tentang akumulasi curah hujan jangka panjang</a:t>
            </a:r>
          </a:p>
          <a:p>
            <a:pPr algn="l">
              <a:lnSpc>
                <a:spcPts val="2868"/>
              </a:lnSpc>
            </a:pPr>
          </a:p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Persentase Kontribusi</a:t>
            </a:r>
          </a:p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Menunjukkan kontribusi relatif setiap stasiun terhadap total curah hujan keseluruhan, mengidentifikasi stasiun dengan curah hujan paling dominan </a:t>
            </a:r>
          </a:p>
          <a:p>
            <a:pPr algn="l">
              <a:lnSpc>
                <a:spcPts val="2868"/>
              </a:lnSpc>
            </a:pPr>
          </a:p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Visualisasi Pie Chart</a:t>
            </a:r>
          </a:p>
          <a:p>
            <a:pPr algn="l">
              <a:lnSpc>
                <a:spcPts val="2868"/>
              </a:lnSpc>
            </a:pPr>
            <a:r>
              <a:rPr lang="en-US" b="true" sz="211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Diagram lingkaran menampilkan proporsi visual dari kontribusi setiap stasiun, memudahkan perbandingan dan identifikasi pola distribusi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39902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-2710" r="-135" b="-1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406992"/>
            <a:ext cx="18288000" cy="2880008"/>
          </a:xfrm>
          <a:custGeom>
            <a:avLst/>
            <a:gdLst/>
            <a:ahLst/>
            <a:cxnLst/>
            <a:rect r="r" b="b" t="t" l="l"/>
            <a:pathLst>
              <a:path h="2880008" w="18288000">
                <a:moveTo>
                  <a:pt x="0" y="0"/>
                </a:moveTo>
                <a:lnTo>
                  <a:pt x="18288000" y="0"/>
                </a:lnTo>
                <a:lnTo>
                  <a:pt x="18288000" y="2880008"/>
                </a:lnTo>
                <a:lnTo>
                  <a:pt x="0" y="2880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309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0"/>
            <a:ext cx="2343150" cy="2343150"/>
          </a:xfrm>
          <a:custGeom>
            <a:avLst/>
            <a:gdLst/>
            <a:ahLst/>
            <a:cxnLst/>
            <a:rect r="r" b="b" t="t" l="l"/>
            <a:pathLst>
              <a:path h="2343150" w="2343150">
                <a:moveTo>
                  <a:pt x="0" y="0"/>
                </a:moveTo>
                <a:lnTo>
                  <a:pt x="2343150" y="0"/>
                </a:lnTo>
                <a:lnTo>
                  <a:pt x="2343150" y="2343150"/>
                </a:lnTo>
                <a:lnTo>
                  <a:pt x="0" y="2343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0" r="-2845" b="-1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43511" y="2995600"/>
            <a:ext cx="9001235" cy="4643680"/>
          </a:xfrm>
          <a:custGeom>
            <a:avLst/>
            <a:gdLst/>
            <a:ahLst/>
            <a:cxnLst/>
            <a:rect r="r" b="b" t="t" l="l"/>
            <a:pathLst>
              <a:path h="4643680" w="9001235">
                <a:moveTo>
                  <a:pt x="0" y="0"/>
                </a:moveTo>
                <a:lnTo>
                  <a:pt x="9001234" y="0"/>
                </a:lnTo>
                <a:lnTo>
                  <a:pt x="9001234" y="4643680"/>
                </a:lnTo>
                <a:lnTo>
                  <a:pt x="0" y="4643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43255" y="-64770"/>
            <a:ext cx="1360149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b="true" sz="720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Identifikasi Pola Musiman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3150" y="3507103"/>
            <a:ext cx="4600256" cy="324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🌞 Musim Kemarau Rata-rata curah hujan &lt; 50 mm/bulan. Periode dengan curah hujan rendah dan kondisi kering. </a:t>
            </a:r>
          </a:p>
          <a:p>
            <a:pPr algn="l">
              <a:lnSpc>
                <a:spcPts val="2868"/>
              </a:lnSpc>
            </a:pPr>
          </a:p>
          <a:p>
            <a:pPr algn="l">
              <a:lnSpc>
                <a:spcPts val="2868"/>
              </a:lnSpc>
            </a:pPr>
            <a:r>
              <a:rPr lang="en-US" b="true" sz="211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🌧️ Musim Hujan Rata-rata curah hujan ≥ 50 mm/bulan. Periode dengan curah hujan tinggi dan kondisi basah.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3150" y="1270631"/>
            <a:ext cx="13601490" cy="10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115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METODE KLASIFIKASI </a:t>
            </a:r>
          </a:p>
          <a:p>
            <a:pPr algn="l">
              <a:lnSpc>
                <a:spcPts val="2868"/>
              </a:lnSpc>
            </a:pPr>
            <a:r>
              <a:rPr lang="en-US" b="true" sz="211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Rata-rata curah hujan bulanan dihitung di seluruh stasiun untuk mengidentifikasi pola musiman yang konsisten di berbagai lokasi pengamatan.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0" r="-13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713953"/>
            <a:ext cx="18288000" cy="3571875"/>
          </a:xfrm>
          <a:custGeom>
            <a:avLst/>
            <a:gdLst/>
            <a:ahLst/>
            <a:cxnLst/>
            <a:rect r="r" b="b" t="t" l="l"/>
            <a:pathLst>
              <a:path h="3571875" w="18288000">
                <a:moveTo>
                  <a:pt x="0" y="0"/>
                </a:moveTo>
                <a:lnTo>
                  <a:pt x="18288000" y="0"/>
                </a:lnTo>
                <a:lnTo>
                  <a:pt x="18288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47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845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74252" y="2780839"/>
            <a:ext cx="804981" cy="82677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66295" y="2683964"/>
            <a:ext cx="908435" cy="93245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57410" y="6291392"/>
            <a:ext cx="823352" cy="84512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58122" y="6195282"/>
            <a:ext cx="917373" cy="94163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079975" y="708003"/>
            <a:ext cx="83763" cy="51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27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3150" y="137847"/>
            <a:ext cx="13601490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5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Variasi Musim Hujan dan Kemarau Antar Stasiun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3738" y="2811637"/>
            <a:ext cx="5918211" cy="317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Analisis Detail per Stasiun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algn="l">
              <a:lnSpc>
                <a:spcPts val="2921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Klasifikasi musim (Kemarau/Hujan) diterapkan pada rata-rata curah hujan bulanan untuk setiap stasiun secara individual, memungkinkan identifikasi pola spesifik lokal yang berbeda dari pola umum nasional.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9426" y="2723569"/>
            <a:ext cx="5918211" cy="281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Ide</a:t>
            </a: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ntifikasi Variasi 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</a:p>
          <a:p>
            <a:pPr algn="l">
              <a:lnSpc>
                <a:spcPts val="2921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Lokal Menunjukkan apakah semua stasiun menga</a:t>
            </a: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lami pola musim yang sama atau terdapat perbedaan signifikan dalam onset dan durasi musim kemarau dan hujan antar lokasi geografis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3738" y="6323719"/>
            <a:ext cx="5918211" cy="281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Perb</a:t>
            </a: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andingan Antar Stasiun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</a:p>
          <a:p>
            <a:pPr algn="l">
              <a:lnSpc>
                <a:spcPts val="2921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Memb</a:t>
            </a: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andingkan jumlah bulan kemarau dan hujan di setiap stasiun, mengidentifikasi stasiun dengan musim kemarau panjang atau musim hujan yang intens.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6430" y="6323719"/>
            <a:ext cx="5918211" cy="244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Impl</a:t>
            </a:r>
            <a:r>
              <a:rPr lang="en-US" b="true" sz="300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ikasi Geografis 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</a:p>
          <a:p>
            <a:pPr algn="l">
              <a:lnSpc>
                <a:spcPts val="2921"/>
              </a:lnSpc>
              <a:spcBef>
                <a:spcPct val="0"/>
              </a:spcBef>
            </a:pP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Variasi l</a:t>
            </a: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okal mencerminkan pengaruh faktor geografis seperti e</a:t>
            </a:r>
            <a:r>
              <a:rPr lang="en-US" b="true" sz="2175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levasi, posisi lintang, dan kedekatan terhadap laut, yang mempengaruhi pola iklim regional.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078473"/>
            <a:ext cx="1098547" cy="647700"/>
          </a:xfrm>
          <a:custGeom>
            <a:avLst/>
            <a:gdLst/>
            <a:ahLst/>
            <a:cxnLst/>
            <a:rect r="r" b="b" t="t" l="l"/>
            <a:pathLst>
              <a:path h="647700" w="1098547">
                <a:moveTo>
                  <a:pt x="0" y="0"/>
                </a:moveTo>
                <a:lnTo>
                  <a:pt x="1098547" y="0"/>
                </a:lnTo>
                <a:lnTo>
                  <a:pt x="1098547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8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04001" y="2972305"/>
            <a:ext cx="609600" cy="1476375"/>
          </a:xfrm>
          <a:custGeom>
            <a:avLst/>
            <a:gdLst/>
            <a:ahLst/>
            <a:cxnLst/>
            <a:rect r="r" b="b" t="t" l="l"/>
            <a:pathLst>
              <a:path h="1476375" w="609600">
                <a:moveTo>
                  <a:pt x="0" y="0"/>
                </a:moveTo>
                <a:lnTo>
                  <a:pt x="609600" y="0"/>
                </a:lnTo>
                <a:lnTo>
                  <a:pt x="609600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1943100"/>
          </a:xfrm>
          <a:custGeom>
            <a:avLst/>
            <a:gdLst/>
            <a:ahLst/>
            <a:cxnLst/>
            <a:rect r="r" b="b" t="t" l="l"/>
            <a:pathLst>
              <a:path h="1943100" w="2343150">
                <a:moveTo>
                  <a:pt x="0" y="0"/>
                </a:moveTo>
                <a:lnTo>
                  <a:pt x="2343150" y="0"/>
                </a:lnTo>
                <a:lnTo>
                  <a:pt x="23431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0" t="-3425" r="-135" b="-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137397"/>
            <a:ext cx="18288000" cy="3149603"/>
          </a:xfrm>
          <a:custGeom>
            <a:avLst/>
            <a:gdLst/>
            <a:ahLst/>
            <a:cxnLst/>
            <a:rect r="r" b="b" t="t" l="l"/>
            <a:pathLst>
              <a:path h="3149603" w="18288000">
                <a:moveTo>
                  <a:pt x="0" y="0"/>
                </a:moveTo>
                <a:lnTo>
                  <a:pt x="18288000" y="0"/>
                </a:lnTo>
                <a:lnTo>
                  <a:pt x="18288000" y="3149603"/>
                </a:lnTo>
                <a:lnTo>
                  <a:pt x="0" y="3149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" t="0" r="-329" b="-19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5105" y="0"/>
            <a:ext cx="1902895" cy="1895475"/>
          </a:xfrm>
          <a:custGeom>
            <a:avLst/>
            <a:gdLst/>
            <a:ahLst/>
            <a:cxnLst/>
            <a:rect r="r" b="b" t="t" l="l"/>
            <a:pathLst>
              <a:path h="1895475" w="1902895">
                <a:moveTo>
                  <a:pt x="0" y="0"/>
                </a:moveTo>
                <a:lnTo>
                  <a:pt x="1902895" y="0"/>
                </a:lnTo>
                <a:lnTo>
                  <a:pt x="1902895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50" r="-3113" b="-167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81372" y="2690798"/>
            <a:ext cx="838668" cy="861374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82635" y="6714289"/>
            <a:ext cx="824416" cy="846215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81425" y="4707082"/>
            <a:ext cx="838562" cy="860736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186401" y="862013"/>
            <a:ext cx="591519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9000">
                <a:solidFill>
                  <a:srgbClr val="233173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Kesimpulan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46487" y="2724479"/>
            <a:ext cx="12457003" cy="175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Klasifikasi Tahunan 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Analisis menunjukkan variasi signifikan dalam tingkat curah hujan tahunan antar stasiun, dengan beberapa daerah terklasifikasi tinggi (&gt;700 mm), sedang (500-700 mm), dan rendah (&lt;500 mm).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46487" y="4740710"/>
            <a:ext cx="12457003" cy="175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Curah Hujan Ekstrem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Identifikasi nilai curah hujan tertinggi per stasiun mengungkapkan peristiwa ekstrem yang penting untuk mitigasi bencana dan perencanaan infrastruktur yang resilient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46487" y="6757692"/>
            <a:ext cx="12457003" cy="175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00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Pola Musiman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Klasifikasi musim menunjukkan pola kemarau dan hujan yang konsisten, dengan variasi lokal antar stasiun yang perlu dipertimbangkan dalam perencanaan regional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078473"/>
            <a:ext cx="1098547" cy="647700"/>
          </a:xfrm>
          <a:custGeom>
            <a:avLst/>
            <a:gdLst/>
            <a:ahLst/>
            <a:cxnLst/>
            <a:rect r="r" b="b" t="t" l="l"/>
            <a:pathLst>
              <a:path h="647700" w="1098547">
                <a:moveTo>
                  <a:pt x="0" y="0"/>
                </a:moveTo>
                <a:lnTo>
                  <a:pt x="1098547" y="0"/>
                </a:lnTo>
                <a:lnTo>
                  <a:pt x="1098547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8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04001" y="2972305"/>
            <a:ext cx="609600" cy="1476375"/>
          </a:xfrm>
          <a:custGeom>
            <a:avLst/>
            <a:gdLst/>
            <a:ahLst/>
            <a:cxnLst/>
            <a:rect r="r" b="b" t="t" l="l"/>
            <a:pathLst>
              <a:path h="1476375" w="609600">
                <a:moveTo>
                  <a:pt x="0" y="0"/>
                </a:moveTo>
                <a:lnTo>
                  <a:pt x="609600" y="0"/>
                </a:lnTo>
                <a:lnTo>
                  <a:pt x="609600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1943100"/>
          </a:xfrm>
          <a:custGeom>
            <a:avLst/>
            <a:gdLst/>
            <a:ahLst/>
            <a:cxnLst/>
            <a:rect r="r" b="b" t="t" l="l"/>
            <a:pathLst>
              <a:path h="1943100" w="2343150">
                <a:moveTo>
                  <a:pt x="0" y="0"/>
                </a:moveTo>
                <a:lnTo>
                  <a:pt x="2343150" y="0"/>
                </a:lnTo>
                <a:lnTo>
                  <a:pt x="23431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0" t="-3425" r="-135" b="-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137397"/>
            <a:ext cx="18288000" cy="3149603"/>
          </a:xfrm>
          <a:custGeom>
            <a:avLst/>
            <a:gdLst/>
            <a:ahLst/>
            <a:cxnLst/>
            <a:rect r="r" b="b" t="t" l="l"/>
            <a:pathLst>
              <a:path h="3149603" w="18288000">
                <a:moveTo>
                  <a:pt x="0" y="0"/>
                </a:moveTo>
                <a:lnTo>
                  <a:pt x="18288000" y="0"/>
                </a:lnTo>
                <a:lnTo>
                  <a:pt x="18288000" y="3149603"/>
                </a:lnTo>
                <a:lnTo>
                  <a:pt x="0" y="3149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" t="0" r="-329" b="-19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5105" y="0"/>
            <a:ext cx="1902895" cy="1895475"/>
          </a:xfrm>
          <a:custGeom>
            <a:avLst/>
            <a:gdLst/>
            <a:ahLst/>
            <a:cxnLst/>
            <a:rect r="r" b="b" t="t" l="l"/>
            <a:pathLst>
              <a:path h="1895475" w="1902895">
                <a:moveTo>
                  <a:pt x="0" y="0"/>
                </a:moveTo>
                <a:lnTo>
                  <a:pt x="1902895" y="0"/>
                </a:lnTo>
                <a:lnTo>
                  <a:pt x="1902895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50" r="-3113" b="-1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94582" y="305004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94582" y="409779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94582" y="514554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94582" y="619329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80940" y="1360722"/>
            <a:ext cx="5170989" cy="84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b="true" sz="9552">
                <a:solidFill>
                  <a:srgbClr val="233173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KENDALA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1398" y="2803329"/>
            <a:ext cx="13691035" cy="461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3029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Koordinasi waktu dan alat elektronik: Sulit menyamakan jadwal antar anggota untuk diskusi dan keterbatasan alat elektronik</a:t>
            </a:r>
          </a:p>
          <a:p>
            <a:pPr algn="l">
              <a:lnSpc>
                <a:spcPts val="4069"/>
              </a:lnSpc>
            </a:pPr>
            <a:r>
              <a:rPr lang="en-US" b="true" sz="3029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dan pembagian tugas. </a:t>
            </a:r>
          </a:p>
          <a:p>
            <a:pPr algn="l">
              <a:lnSpc>
                <a:spcPts val="4069"/>
              </a:lnSpc>
            </a:pPr>
            <a:r>
              <a:rPr lang="en-US" b="true" sz="3029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Distribusi tugas: Beberapa anggota belum terbiasa dengan Python sehingga perlu pendampingan ekstra. </a:t>
            </a:r>
          </a:p>
          <a:p>
            <a:pPr algn="l">
              <a:lnSpc>
                <a:spcPts val="4069"/>
              </a:lnSpc>
            </a:pPr>
            <a:r>
              <a:rPr lang="en-US" b="true" sz="3029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Validasi data: Menemui data duplikat dan format tidak konsisten yang memerlukan waktu untuk dibersihkan. </a:t>
            </a:r>
          </a:p>
          <a:p>
            <a:pPr algn="l">
              <a:lnSpc>
                <a:spcPts val="4069"/>
              </a:lnSpc>
            </a:pPr>
            <a:r>
              <a:rPr lang="en-US" b="true" sz="3030">
                <a:solidFill>
                  <a:srgbClr val="233173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Visualisasi: Tantangan dalam memilih jenis grafik yang paling informatif dan mudah dipahami.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1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97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8849" y="3901945"/>
            <a:ext cx="847725" cy="2181225"/>
          </a:xfrm>
          <a:custGeom>
            <a:avLst/>
            <a:gdLst/>
            <a:ahLst/>
            <a:cxnLst/>
            <a:rect r="r" b="b" t="t" l="l"/>
            <a:pathLst>
              <a:path h="2181225" w="847725">
                <a:moveTo>
                  <a:pt x="0" y="0"/>
                </a:moveTo>
                <a:lnTo>
                  <a:pt x="847725" y="0"/>
                </a:lnTo>
                <a:lnTo>
                  <a:pt x="847725" y="2181225"/>
                </a:lnTo>
                <a:lnTo>
                  <a:pt x="0" y="218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0" t="0" r="-13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612112"/>
            <a:ext cx="18288000" cy="3674888"/>
          </a:xfrm>
          <a:custGeom>
            <a:avLst/>
            <a:gdLst/>
            <a:ahLst/>
            <a:cxnLst/>
            <a:rect r="r" b="b" t="t" l="l"/>
            <a:pathLst>
              <a:path h="3674888" w="18288000">
                <a:moveTo>
                  <a:pt x="0" y="0"/>
                </a:moveTo>
                <a:lnTo>
                  <a:pt x="18288000" y="0"/>
                </a:lnTo>
                <a:lnTo>
                  <a:pt x="18288000" y="3674888"/>
                </a:lnTo>
                <a:lnTo>
                  <a:pt x="0" y="3674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7" t="0" r="-329" b="-186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4640" y="439912"/>
            <a:ext cx="2343150" cy="2409825"/>
          </a:xfrm>
          <a:custGeom>
            <a:avLst/>
            <a:gdLst/>
            <a:ahLst/>
            <a:cxnLst/>
            <a:rect r="r" b="b" t="t" l="l"/>
            <a:pathLst>
              <a:path h="2409825" w="2343150">
                <a:moveTo>
                  <a:pt x="0" y="0"/>
                </a:moveTo>
                <a:lnTo>
                  <a:pt x="2343150" y="0"/>
                </a:lnTo>
                <a:lnTo>
                  <a:pt x="234315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84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4810" y="6540675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14810" y="4333432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14810" y="5601745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43360" y="2103363"/>
            <a:ext cx="13849655" cy="82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4"/>
              </a:lnSpc>
            </a:pPr>
            <a:r>
              <a:rPr lang="en-US" b="true" sz="581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SARAN PERBAIKAN DAN PENGEMBANGAN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8693" y="1480461"/>
            <a:ext cx="109899" cy="78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b="true" sz="303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89511" y="3932655"/>
            <a:ext cx="12893250" cy="35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b="true" sz="302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Menin</a:t>
            </a:r>
            <a:r>
              <a:rPr lang="en-US" b="true" sz="302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gkatkan kualitas komunikasi antar anggota tim agar informasi tersampaikan dengan jelas dan menghindari kesalah pahaman Mendorong setiap anggota tim untuk lebih aktif berpartisipasi dalam diskusi, kolaborasi, dan pelaksanaan tugas bersama.</a:t>
            </a:r>
          </a:p>
          <a:p>
            <a:pPr algn="l">
              <a:lnSpc>
                <a:spcPts val="4051"/>
              </a:lnSpc>
            </a:pPr>
            <a:r>
              <a:rPr lang="en-US" b="true" sz="303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Mel</a:t>
            </a:r>
            <a:r>
              <a:rPr lang="en-US" b="true" sz="303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aksanakan tugas sesuai dengan jobdesk masing-masing agar alur kerja lebih teratur dan tanggung jawab setiap anggota dapat terpenuhi dengan optimal.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078473"/>
            <a:ext cx="1098547" cy="647700"/>
          </a:xfrm>
          <a:custGeom>
            <a:avLst/>
            <a:gdLst/>
            <a:ahLst/>
            <a:cxnLst/>
            <a:rect r="r" b="b" t="t" l="l"/>
            <a:pathLst>
              <a:path h="647700" w="1098547">
                <a:moveTo>
                  <a:pt x="0" y="0"/>
                </a:moveTo>
                <a:lnTo>
                  <a:pt x="1098547" y="0"/>
                </a:lnTo>
                <a:lnTo>
                  <a:pt x="1098547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8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04001" y="2972305"/>
            <a:ext cx="609600" cy="1476375"/>
          </a:xfrm>
          <a:custGeom>
            <a:avLst/>
            <a:gdLst/>
            <a:ahLst/>
            <a:cxnLst/>
            <a:rect r="r" b="b" t="t" l="l"/>
            <a:pathLst>
              <a:path h="1476375" w="609600">
                <a:moveTo>
                  <a:pt x="0" y="0"/>
                </a:moveTo>
                <a:lnTo>
                  <a:pt x="609600" y="0"/>
                </a:lnTo>
                <a:lnTo>
                  <a:pt x="609600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343150" cy="1943100"/>
          </a:xfrm>
          <a:custGeom>
            <a:avLst/>
            <a:gdLst/>
            <a:ahLst/>
            <a:cxnLst/>
            <a:rect r="r" b="b" t="t" l="l"/>
            <a:pathLst>
              <a:path h="1943100" w="2343150">
                <a:moveTo>
                  <a:pt x="0" y="0"/>
                </a:moveTo>
                <a:lnTo>
                  <a:pt x="2343150" y="0"/>
                </a:lnTo>
                <a:lnTo>
                  <a:pt x="23431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0" t="-3425" r="-135" b="-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137397"/>
            <a:ext cx="18288000" cy="3149603"/>
          </a:xfrm>
          <a:custGeom>
            <a:avLst/>
            <a:gdLst/>
            <a:ahLst/>
            <a:cxnLst/>
            <a:rect r="r" b="b" t="t" l="l"/>
            <a:pathLst>
              <a:path h="3149603" w="18288000">
                <a:moveTo>
                  <a:pt x="0" y="0"/>
                </a:moveTo>
                <a:lnTo>
                  <a:pt x="18288000" y="0"/>
                </a:lnTo>
                <a:lnTo>
                  <a:pt x="18288000" y="3149603"/>
                </a:lnTo>
                <a:lnTo>
                  <a:pt x="0" y="3149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" t="0" r="-329" b="-19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5105" y="0"/>
            <a:ext cx="1902895" cy="1895475"/>
          </a:xfrm>
          <a:custGeom>
            <a:avLst/>
            <a:gdLst/>
            <a:ahLst/>
            <a:cxnLst/>
            <a:rect r="r" b="b" t="t" l="l"/>
            <a:pathLst>
              <a:path h="1895475" w="1902895">
                <a:moveTo>
                  <a:pt x="0" y="0"/>
                </a:moveTo>
                <a:lnTo>
                  <a:pt x="1902895" y="0"/>
                </a:lnTo>
                <a:lnTo>
                  <a:pt x="1902895" y="1895475"/>
                </a:lnTo>
                <a:lnTo>
                  <a:pt x="0" y="1895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50" r="-3113" b="-16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66847" y="3768538"/>
            <a:ext cx="4554306" cy="163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3"/>
              </a:lnSpc>
            </a:pPr>
            <a:r>
              <a:rPr lang="en-US" b="true" sz="9552">
                <a:solidFill>
                  <a:srgbClr val="233173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DAG5rvD9VK8</dc:identifier>
  <dcterms:modified xsi:type="dcterms:W3CDTF">2011-08-01T06:04:30Z</dcterms:modified>
  <cp:revision>1</cp:revision>
  <dc:title>PPT Dspem Mini Projek.pdf (2).pdf.pdf</dc:title>
</cp:coreProperties>
</file>